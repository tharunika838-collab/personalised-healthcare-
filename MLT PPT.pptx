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428372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23F64BC7-2C87-483D-8126-1571582E98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headEnd/>
            <a:tailEnd/>
          </a:ln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417BCAEA-57D9-FF64-824F-752BB422CA2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SzPts val="1100"/>
              <a:buFont typeface="Arial" panose="020B0604020202020204" pitchFamily="34" charset="0"/>
              <a:buChar char="●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873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fd1057461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fd1057461b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2185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D79CEF68-5E93-3E4E-B7DD-64AFDC9AB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057461b_0_17:notes">
            <a:extLst>
              <a:ext uri="{FF2B5EF4-FFF2-40B4-BE49-F238E27FC236}">
                <a16:creationId xmlns:a16="http://schemas.microsoft.com/office/drawing/2014/main" id="{5B53010E-8998-92F5-E287-D6A5529904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057461b_0_17:notes">
            <a:extLst>
              <a:ext uri="{FF2B5EF4-FFF2-40B4-BE49-F238E27FC236}">
                <a16:creationId xmlns:a16="http://schemas.microsoft.com/office/drawing/2014/main" id="{C10E95EB-6593-17F0-871A-BF22D08E19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2764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1057461b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1057461b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7722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d1057461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d1057461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6267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4041648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912114"/>
            <a:ext cx="4041648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750A1B5E-3E5A-FE16-A2CA-208539DCB9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400800" y="4767263"/>
            <a:ext cx="2289175" cy="27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Font typeface="Arial" panose="020B0604020202020204" pitchFamily="34" charset="0"/>
              <a:buNone/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A6DFB2D-6287-4387-9392-754C26A433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2898775" y="4767263"/>
            <a:ext cx="3505200" cy="27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Font typeface="Arial" panose="020B0604020202020204" pitchFamily="34" charset="0"/>
              <a:buNone/>
              <a:defRPr/>
            </a:lvl1pPr>
          </a:lstStyle>
          <a:p>
            <a:r>
              <a:rPr lang="en-US" altLang="en-US"/>
              <a:t>EGB1201 – JAVA PROGRAMMING –PROJECT REVIEW 1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1CC88B6-4F22-9915-F447-6DDCD81CC9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49557-650C-4E1E-88E1-6690AA61EE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1777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4E6930A5-9B8F-1E53-84C7-121ACA8BB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1858537"/>
            <a:ext cx="8938418" cy="624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 bIns="0" anchor="b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 </a:t>
            </a:r>
          </a:p>
          <a:p>
            <a:pPr algn="ctr" eaLnBrk="1" hangingPunct="1"/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 2026 – 2027 (Odd Semester)</a:t>
            </a:r>
          </a:p>
        </p:txBody>
      </p:sp>
      <p:sp>
        <p:nvSpPr>
          <p:cNvPr id="6147" name="Slide Number Placeholder 3">
            <a:extLst>
              <a:ext uri="{FF2B5EF4-FFF2-40B4-BE49-F238E27FC236}">
                <a16:creationId xmlns:a16="http://schemas.microsoft.com/office/drawing/2014/main" id="{FED27C9B-7D0B-508A-EC22-2D8A3DF5C1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7C3B18-1B13-4272-916E-3B8D6A992976}" type="slidenum">
              <a:rPr lang="en-US" altLang="en-US" sz="1000">
                <a:solidFill>
                  <a:srgbClr val="595959"/>
                </a:solidFill>
              </a:rPr>
              <a:pPr/>
              <a:t>1</a:t>
            </a:fld>
            <a:endParaRPr lang="en-US" altLang="en-US" sz="1000">
              <a:solidFill>
                <a:srgbClr val="595959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4D8D35-1749-350A-51CB-9EDDD8A2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63083"/>
            <a:ext cx="8077199" cy="795454"/>
          </a:xfrm>
        </p:spPr>
        <p:txBody>
          <a:bodyPr spcFirstLastPara="1">
            <a:normAutofit/>
          </a:bodyPr>
          <a:lstStyle/>
          <a:p>
            <a:pPr algn="ctr">
              <a:defRPr/>
            </a:pPr>
            <a:br>
              <a:rPr lang="en-US" sz="2000" b="1" dirty="0">
                <a:solidFill>
                  <a:srgbClr val="FF0000"/>
                </a:solidFill>
              </a:rPr>
            </a:b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AGI1242- MACHINE LEARNING TECHNIQUES </a:t>
            </a:r>
            <a:endParaRPr lang="en-US" sz="2000" b="1" dirty="0">
              <a:solidFill>
                <a:schemeClr val="accent1">
                  <a:lumMod val="50000"/>
                </a:schemeClr>
              </a:solidFill>
              <a:sym typeface="Arial"/>
            </a:endParaRPr>
          </a:p>
        </p:txBody>
      </p:sp>
      <p:pic>
        <p:nvPicPr>
          <p:cNvPr id="6151" name="Google Shape;64;p14">
            <a:extLst>
              <a:ext uri="{FF2B5EF4-FFF2-40B4-BE49-F238E27FC236}">
                <a16:creationId xmlns:a16="http://schemas.microsoft.com/office/drawing/2014/main" id="{69403B3C-15A8-86DB-2787-7DE8F59E1DE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2039" y="157163"/>
            <a:ext cx="1160811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2626BC-9078-8C2E-5298-50B83E00CB69}"/>
              </a:ext>
            </a:extLst>
          </p:cNvPr>
          <p:cNvSpPr txBox="1"/>
          <p:nvPr/>
        </p:nvSpPr>
        <p:spPr>
          <a:xfrm>
            <a:off x="457200" y="2483005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PERSONALIZED HEALTHCARE RECOMMENDATION USING MACHINE LEARNING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489498-CEAE-CAB0-F852-9CC9A1706EF0}"/>
              </a:ext>
            </a:extLst>
          </p:cNvPr>
          <p:cNvSpPr txBox="1"/>
          <p:nvPr/>
        </p:nvSpPr>
        <p:spPr>
          <a:xfrm>
            <a:off x="2289716" y="3336973"/>
            <a:ext cx="41631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rgbClr val="0000FF"/>
                </a:solidFill>
              </a:rPr>
              <a:t>                       PRESENTED BY</a:t>
            </a:r>
            <a:endParaRPr lang="en-US" b="1" dirty="0">
              <a:solidFill>
                <a:srgbClr val="002060"/>
              </a:solidFill>
            </a:endParaRPr>
          </a:p>
          <a:p>
            <a:r>
              <a:rPr lang="en-IN" dirty="0"/>
              <a:t>2503811724322072   - PAVITHRA S</a:t>
            </a:r>
            <a:br>
              <a:rPr lang="en-IN" dirty="0"/>
            </a:br>
            <a:r>
              <a:rPr lang="en-IN" dirty="0"/>
              <a:t>2503811724321082   - RAM KISHORE RP</a:t>
            </a:r>
            <a:br>
              <a:rPr lang="en-IN" dirty="0"/>
            </a:br>
            <a:r>
              <a:rPr lang="en-IN" dirty="0"/>
              <a:t>2503811724321095   - SATHIANARAYANAN S </a:t>
            </a:r>
            <a:br>
              <a:rPr lang="en-IN" dirty="0"/>
            </a:br>
            <a:r>
              <a:rPr lang="en-IN" dirty="0"/>
              <a:t>2503811724322109   - SUNGANYA S</a:t>
            </a:r>
            <a:br>
              <a:rPr lang="en-IN" dirty="0"/>
            </a:br>
            <a:r>
              <a:rPr lang="en-IN" dirty="0"/>
              <a:t>2503811724322113   - THARUNIKA S</a:t>
            </a:r>
          </a:p>
          <a:p>
            <a:br>
              <a:rPr lang="en-IN" dirty="0"/>
            </a:br>
            <a:endParaRPr lang="en-IN" dirty="0"/>
          </a:p>
        </p:txBody>
      </p:sp>
      <p:pic>
        <p:nvPicPr>
          <p:cNvPr id="5" name="Picture 4" descr="KRCT">
            <a:extLst>
              <a:ext uri="{FF2B5EF4-FFF2-40B4-BE49-F238E27FC236}">
                <a16:creationId xmlns:a16="http://schemas.microsoft.com/office/drawing/2014/main" id="{10386FF0-1868-3327-3F9D-E90444A2A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192860" cy="13056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182493" y="1183601"/>
            <a:ext cx="7939500" cy="25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19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" sz="1800" b="1" dirty="0">
                <a:solidFill>
                  <a:schemeClr val="dk1"/>
                </a:solidFill>
              </a:rPr>
              <a:t>Objective</a:t>
            </a:r>
          </a:p>
          <a:p>
            <a:pPr marL="361950" indent="-285750">
              <a:lnSpc>
                <a:spcPct val="115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dk1"/>
                </a:solidFill>
              </a:rPr>
              <a:t>Problem Identification</a:t>
            </a:r>
          </a:p>
          <a:p>
            <a:pPr marL="3619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" sz="1800" b="1" dirty="0">
                <a:solidFill>
                  <a:schemeClr val="dk1"/>
                </a:solidFill>
              </a:rPr>
              <a:t>Flow Diagram</a:t>
            </a:r>
          </a:p>
          <a:p>
            <a:pPr marL="419100" lvl="0" indent="-342900">
              <a:lnSpc>
                <a:spcPct val="115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</a:rPr>
              <a:t>Literature survey</a:t>
            </a:r>
            <a:endParaRPr lang="en" sz="1800" b="1" dirty="0">
              <a:solidFill>
                <a:schemeClr val="tx1"/>
              </a:solidFill>
            </a:endParaRPr>
          </a:p>
          <a:p>
            <a:pPr marL="419100" indent="-342900">
              <a:lnSpc>
                <a:spcPct val="115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tx1"/>
                </a:solidFill>
              </a:rPr>
              <a:t>Research methodology</a:t>
            </a:r>
          </a:p>
          <a:p>
            <a:pPr marL="419100" indent="-342900">
              <a:lnSpc>
                <a:spcPct val="115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tx1"/>
                </a:solidFill>
              </a:rPr>
              <a:t>Compare algorithm</a:t>
            </a:r>
          </a:p>
          <a:p>
            <a:pPr marL="361950" lvl="0" indent="-285750"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IN" sz="1800" b="1" dirty="0"/>
              <a:t>Implementation Idea</a:t>
            </a:r>
          </a:p>
          <a:p>
            <a:pPr marL="419100" lvl="0" indent="-342900"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tx1"/>
                </a:solidFill>
              </a:rPr>
              <a:t>Modules</a:t>
            </a:r>
          </a:p>
          <a:p>
            <a:pPr marL="419100" indent="-342900"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tx1"/>
                </a:solidFill>
              </a:rPr>
              <a:t>Conclusion</a:t>
            </a:r>
          </a:p>
          <a:p>
            <a:pPr marL="419100" lvl="0" indent="-342900"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IN" sz="1800" b="1" dirty="0">
              <a:solidFill>
                <a:schemeClr val="tx1"/>
              </a:solidFill>
            </a:endParaRPr>
          </a:p>
          <a:p>
            <a:pPr marL="419100" lvl="0" indent="-342900"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IN" sz="1800" b="1" dirty="0">
              <a:solidFill>
                <a:schemeClr val="tx1"/>
              </a:solidFill>
            </a:endParaRPr>
          </a:p>
          <a:p>
            <a:pPr marL="76200" lvl="0">
              <a:lnSpc>
                <a:spcPct val="115000"/>
              </a:lnSpc>
              <a:buClr>
                <a:schemeClr val="dk1"/>
              </a:buClr>
              <a:buSzPts val="2400"/>
            </a:pPr>
            <a:endParaRPr lang="en" sz="2000" b="1" dirty="0">
              <a:solidFill>
                <a:schemeClr val="tx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" sz="2400" b="1" dirty="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endParaRPr sz="2400" b="1" dirty="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endParaRPr sz="2400" b="1" dirty="0"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PRESENTATION OVERVIEW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E3553134-2F63-CCE3-840E-4D6892A78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>
            <a:extLst>
              <a:ext uri="{FF2B5EF4-FFF2-40B4-BE49-F238E27FC236}">
                <a16:creationId xmlns:a16="http://schemas.microsoft.com/office/drawing/2014/main" id="{030BC34D-188A-4606-08C3-42B4094D7D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>
            <a:extLst>
              <a:ext uri="{FF2B5EF4-FFF2-40B4-BE49-F238E27FC236}">
                <a16:creationId xmlns:a16="http://schemas.microsoft.com/office/drawing/2014/main" id="{F97F3ED1-D2B3-A8FD-1FD4-46821E65E11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238BD73A-3828-0D5B-ED72-9B5230F61CC0}"/>
              </a:ext>
            </a:extLst>
          </p:cNvPr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2400" b="1" dirty="0">
                <a:solidFill>
                  <a:srgbClr val="FF0000"/>
                </a:solidFill>
              </a:rPr>
              <a:t>OBJECTIVE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FAEFD2-A77F-EBCA-B577-C6C95A16FE16}"/>
              </a:ext>
            </a:extLst>
          </p:cNvPr>
          <p:cNvSpPr txBox="1"/>
          <p:nvPr/>
        </p:nvSpPr>
        <p:spPr>
          <a:xfrm>
            <a:off x="542693" y="1556552"/>
            <a:ext cx="7225990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To develop a personalized healthcare recommendation system.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To analyze user health data, lifestyle, and medical history.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To predict individual health risk using Machine Learning.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To recommend suitable diet, exercise, and preventive care.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To support early prevention and better health outcomes.</a:t>
            </a:r>
          </a:p>
        </p:txBody>
      </p:sp>
    </p:spTree>
    <p:extLst>
      <p:ext uri="{BB962C8B-B14F-4D97-AF65-F5344CB8AC3E}">
        <p14:creationId xmlns:p14="http://schemas.microsoft.com/office/powerpoint/2010/main" val="2296469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100" y="120750"/>
            <a:ext cx="906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0000"/>
                </a:solidFill>
              </a:rPr>
              <a:t>PROBLEM IDENTIFICATION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B26431-4962-AF65-B522-42C0CBA260B4}"/>
              </a:ext>
            </a:extLst>
          </p:cNvPr>
          <p:cNvSpPr txBox="1"/>
          <p:nvPr/>
        </p:nvSpPr>
        <p:spPr>
          <a:xfrm>
            <a:off x="438615" y="1556552"/>
            <a:ext cx="8080917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Generic health advice ignores age, lifestyle, and medical conditions.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Large, scattered health data is hard to analyze manually.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People lack timely guidance on diet, exercise, and prevention.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Untailored advice can delay care and worsen health outcomes.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A personalized ML recommender can give tailored, data-driven advice.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7;p17">
            <a:extLst>
              <a:ext uri="{FF2B5EF4-FFF2-40B4-BE49-F238E27FC236}">
                <a16:creationId xmlns:a16="http://schemas.microsoft.com/office/drawing/2014/main" id="{CA016C41-91F5-CB2C-015F-8DA0A62790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56117"/>
            <a:ext cx="8401120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indent="0" algn="ctr">
              <a:buSzPts val="2400"/>
              <a:buNone/>
            </a:pPr>
            <a:r>
              <a:rPr lang="en" sz="2400" b="1" dirty="0">
                <a:solidFill>
                  <a:srgbClr val="FF0000"/>
                </a:solidFill>
              </a:rPr>
              <a:t>FLOW DIAGRAM</a:t>
            </a:r>
          </a:p>
        </p:txBody>
      </p:sp>
      <p:pic>
        <p:nvPicPr>
          <p:cNvPr id="3" name="Google Shape;85;p17">
            <a:extLst>
              <a:ext uri="{FF2B5EF4-FFF2-40B4-BE49-F238E27FC236}">
                <a16:creationId xmlns:a16="http://schemas.microsoft.com/office/drawing/2014/main" id="{2F74DF28-2223-E9DB-8A70-B73DCC4CC8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6;p17">
            <a:extLst>
              <a:ext uri="{FF2B5EF4-FFF2-40B4-BE49-F238E27FC236}">
                <a16:creationId xmlns:a16="http://schemas.microsoft.com/office/drawing/2014/main" id="{1069C205-AF9E-FA64-E7CB-620985FB28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tart"/>
          <p:cNvSpPr/>
          <p:nvPr/>
        </p:nvSpPr>
        <p:spPr>
          <a:xfrm>
            <a:off x="502920" y="804672"/>
            <a:ext cx="1005840" cy="274320"/>
          </a:xfrm>
          <a:prstGeom prst="roundRect">
            <a:avLst/>
          </a:prstGeom>
          <a:solidFill>
            <a:srgbClr val="E8EEFB"/>
          </a:solidFill>
          <a:ln w="19050">
            <a:solidFill>
              <a:srgbClr val="1F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START</a:t>
            </a:r>
          </a:p>
        </p:txBody>
      </p:sp>
      <p:sp>
        <p:nvSpPr>
          <p:cNvPr id="10" name="Step 1"/>
          <p:cNvSpPr/>
          <p:nvPr/>
        </p:nvSpPr>
        <p:spPr>
          <a:xfrm>
            <a:off x="502920" y="1188720"/>
            <a:ext cx="1828800" cy="960120"/>
          </a:xfrm>
          <a:prstGeom prst="roundRect">
            <a:avLst/>
          </a:prstGeom>
          <a:solidFill>
            <a:srgbClr val="E8EEFB"/>
          </a:solidFill>
          <a:ln w="19050">
            <a:solidFill>
              <a:srgbClr val="1F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User Input</a:t>
            </a:r>
          </a:p>
          <a:p>
            <a:pPr algn="ctr"/>
            <a:r>
              <a:rPr sz="1050">
                <a:solidFill>
                  <a:srgbClr val="222222"/>
                </a:solidFill>
                <a:latin typeface="Calibri"/>
              </a:rPr>
              <a:t>Age, BMI, vitals, lifestyle, goals</a:t>
            </a:r>
          </a:p>
        </p:txBody>
      </p:sp>
      <p:sp>
        <p:nvSpPr>
          <p:cNvPr id="11" name="Step badge 1"/>
          <p:cNvSpPr/>
          <p:nvPr/>
        </p:nvSpPr>
        <p:spPr>
          <a:xfrm>
            <a:off x="411480" y="1078992"/>
            <a:ext cx="274320" cy="2743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12" name="Flow arrow"/>
          <p:cNvCxnSpPr/>
          <p:nvPr/>
        </p:nvCxnSpPr>
        <p:spPr>
          <a:xfrm>
            <a:off x="2331720" y="1668780"/>
            <a:ext cx="274319" cy="0"/>
          </a:xfrm>
          <a:prstGeom prst="line">
            <a:avLst/>
          </a:prstGeom>
          <a:ln w="25400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ep 2"/>
          <p:cNvSpPr/>
          <p:nvPr/>
        </p:nvSpPr>
        <p:spPr>
          <a:xfrm>
            <a:off x="2606039" y="1188720"/>
            <a:ext cx="1828800" cy="960120"/>
          </a:xfrm>
          <a:prstGeom prst="roundRect">
            <a:avLst/>
          </a:prstGeom>
          <a:solidFill>
            <a:srgbClr val="E8EEFB"/>
          </a:solidFill>
          <a:ln w="19050">
            <a:solidFill>
              <a:srgbClr val="1F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Data Collection</a:t>
            </a:r>
          </a:p>
          <a:p>
            <a:pPr algn="ctr"/>
            <a:r>
              <a:rPr sz="1050">
                <a:solidFill>
                  <a:srgbClr val="222222"/>
                </a:solidFill>
                <a:latin typeface="Calibri"/>
              </a:rPr>
              <a:t>Health records and item dataset</a:t>
            </a:r>
          </a:p>
        </p:txBody>
      </p:sp>
      <p:sp>
        <p:nvSpPr>
          <p:cNvPr id="14" name="Step badge 2"/>
          <p:cNvSpPr/>
          <p:nvPr/>
        </p:nvSpPr>
        <p:spPr>
          <a:xfrm>
            <a:off x="2514599" y="1078992"/>
            <a:ext cx="274320" cy="2743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5" name="Flow arrow"/>
          <p:cNvCxnSpPr/>
          <p:nvPr/>
        </p:nvCxnSpPr>
        <p:spPr>
          <a:xfrm>
            <a:off x="4434840" y="1668780"/>
            <a:ext cx="274319" cy="0"/>
          </a:xfrm>
          <a:prstGeom prst="line">
            <a:avLst/>
          </a:prstGeom>
          <a:ln w="25400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ep 3"/>
          <p:cNvSpPr/>
          <p:nvPr/>
        </p:nvSpPr>
        <p:spPr>
          <a:xfrm>
            <a:off x="4709159" y="1188720"/>
            <a:ext cx="1828800" cy="960120"/>
          </a:xfrm>
          <a:prstGeom prst="roundRect">
            <a:avLst/>
          </a:prstGeom>
          <a:solidFill>
            <a:srgbClr val="E8EEFB"/>
          </a:solidFill>
          <a:ln w="19050">
            <a:solidFill>
              <a:srgbClr val="1F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Preprocessing</a:t>
            </a:r>
          </a:p>
          <a:p>
            <a:pPr algn="ctr"/>
            <a:r>
              <a:rPr sz="1050">
                <a:solidFill>
                  <a:srgbClr val="222222"/>
                </a:solidFill>
                <a:latin typeface="Calibri"/>
              </a:rPr>
              <a:t>Clean, encode, normalize</a:t>
            </a:r>
          </a:p>
        </p:txBody>
      </p:sp>
      <p:sp>
        <p:nvSpPr>
          <p:cNvPr id="17" name="Step badge 3"/>
          <p:cNvSpPr/>
          <p:nvPr/>
        </p:nvSpPr>
        <p:spPr>
          <a:xfrm>
            <a:off x="4617720" y="1078992"/>
            <a:ext cx="274320" cy="2743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18" name="Flow arrow"/>
          <p:cNvCxnSpPr/>
          <p:nvPr/>
        </p:nvCxnSpPr>
        <p:spPr>
          <a:xfrm>
            <a:off x="6537959" y="1668780"/>
            <a:ext cx="274320" cy="0"/>
          </a:xfrm>
          <a:prstGeom prst="line">
            <a:avLst/>
          </a:prstGeom>
          <a:ln w="25400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ep 4"/>
          <p:cNvSpPr/>
          <p:nvPr/>
        </p:nvSpPr>
        <p:spPr>
          <a:xfrm>
            <a:off x="6812279" y="1188720"/>
            <a:ext cx="1828800" cy="960120"/>
          </a:xfrm>
          <a:prstGeom prst="roundRect">
            <a:avLst/>
          </a:prstGeom>
          <a:solidFill>
            <a:srgbClr val="E8EEFB"/>
          </a:solidFill>
          <a:ln w="19050">
            <a:solidFill>
              <a:srgbClr val="1F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Feature Extraction</a:t>
            </a:r>
          </a:p>
          <a:p>
            <a:pPr algn="ctr"/>
            <a:r>
              <a:rPr sz="1050">
                <a:solidFill>
                  <a:srgbClr val="222222"/>
                </a:solidFill>
                <a:latin typeface="Calibri"/>
              </a:rPr>
              <a:t>User and item feature vectors</a:t>
            </a:r>
          </a:p>
        </p:txBody>
      </p:sp>
      <p:sp>
        <p:nvSpPr>
          <p:cNvPr id="20" name="Step badge 4"/>
          <p:cNvSpPr/>
          <p:nvPr/>
        </p:nvSpPr>
        <p:spPr>
          <a:xfrm>
            <a:off x="6720840" y="1078992"/>
            <a:ext cx="274320" cy="2743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Step 5"/>
          <p:cNvSpPr/>
          <p:nvPr/>
        </p:nvSpPr>
        <p:spPr>
          <a:xfrm>
            <a:off x="6812279" y="2834640"/>
            <a:ext cx="1828800" cy="96012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Risk Prediction</a:t>
            </a:r>
          </a:p>
          <a:p>
            <a:pPr algn="ctr"/>
            <a:r>
              <a:rPr sz="1050">
                <a:solidFill>
                  <a:srgbClr val="222222"/>
                </a:solidFill>
                <a:latin typeface="Calibri"/>
              </a:rPr>
              <a:t>Random Forest: low / moderate / high</a:t>
            </a:r>
          </a:p>
        </p:txBody>
      </p:sp>
      <p:sp>
        <p:nvSpPr>
          <p:cNvPr id="22" name="Step badge 5"/>
          <p:cNvSpPr/>
          <p:nvPr/>
        </p:nvSpPr>
        <p:spPr>
          <a:xfrm>
            <a:off x="6720840" y="2724912"/>
            <a:ext cx="274320" cy="2743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cxnSp>
        <p:nvCxnSpPr>
          <p:cNvPr id="23" name="Flow arrow"/>
          <p:cNvCxnSpPr/>
          <p:nvPr/>
        </p:nvCxnSpPr>
        <p:spPr>
          <a:xfrm flipH="1">
            <a:off x="6537959" y="3314700"/>
            <a:ext cx="274320" cy="0"/>
          </a:xfrm>
          <a:prstGeom prst="line">
            <a:avLst/>
          </a:prstGeom>
          <a:ln w="25400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tep 6"/>
          <p:cNvSpPr/>
          <p:nvPr/>
        </p:nvSpPr>
        <p:spPr>
          <a:xfrm>
            <a:off x="4709159" y="2834640"/>
            <a:ext cx="1828800" cy="96012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Similarity Matching</a:t>
            </a:r>
          </a:p>
          <a:p>
            <a:pPr algn="ctr"/>
            <a:r>
              <a:rPr sz="1050">
                <a:solidFill>
                  <a:srgbClr val="222222"/>
                </a:solidFill>
                <a:latin typeface="Calibri"/>
              </a:rPr>
              <a:t>Cosine similarity: user vs items</a:t>
            </a:r>
          </a:p>
        </p:txBody>
      </p:sp>
      <p:sp>
        <p:nvSpPr>
          <p:cNvPr id="25" name="Step badge 6"/>
          <p:cNvSpPr/>
          <p:nvPr/>
        </p:nvSpPr>
        <p:spPr>
          <a:xfrm>
            <a:off x="4617720" y="2724912"/>
            <a:ext cx="274320" cy="2743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cxnSp>
        <p:nvCxnSpPr>
          <p:cNvPr id="26" name="Flow arrow"/>
          <p:cNvCxnSpPr/>
          <p:nvPr/>
        </p:nvCxnSpPr>
        <p:spPr>
          <a:xfrm flipH="1">
            <a:off x="4434840" y="3314700"/>
            <a:ext cx="274319" cy="0"/>
          </a:xfrm>
          <a:prstGeom prst="line">
            <a:avLst/>
          </a:prstGeom>
          <a:ln w="25400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tep 7"/>
          <p:cNvSpPr/>
          <p:nvPr/>
        </p:nvSpPr>
        <p:spPr>
          <a:xfrm>
            <a:off x="2606039" y="2834640"/>
            <a:ext cx="1828800" cy="96012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Rank Top-N</a:t>
            </a:r>
          </a:p>
          <a:p>
            <a:pPr algn="ctr"/>
            <a:r>
              <a:rPr sz="1050">
                <a:solidFill>
                  <a:srgbClr val="222222"/>
                </a:solidFill>
                <a:latin typeface="Calibri"/>
              </a:rPr>
              <a:t>Sort by score within risk level</a:t>
            </a:r>
          </a:p>
        </p:txBody>
      </p:sp>
      <p:sp>
        <p:nvSpPr>
          <p:cNvPr id="28" name="Step badge 7"/>
          <p:cNvSpPr/>
          <p:nvPr/>
        </p:nvSpPr>
        <p:spPr>
          <a:xfrm>
            <a:off x="2514599" y="2724912"/>
            <a:ext cx="274320" cy="2743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cxnSp>
        <p:nvCxnSpPr>
          <p:cNvPr id="29" name="Flow arrow"/>
          <p:cNvCxnSpPr/>
          <p:nvPr/>
        </p:nvCxnSpPr>
        <p:spPr>
          <a:xfrm flipH="1">
            <a:off x="2331720" y="3314700"/>
            <a:ext cx="274319" cy="0"/>
          </a:xfrm>
          <a:prstGeom prst="line">
            <a:avLst/>
          </a:prstGeom>
          <a:ln w="25400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tep 8"/>
          <p:cNvSpPr/>
          <p:nvPr/>
        </p:nvSpPr>
        <p:spPr>
          <a:xfrm>
            <a:off x="502920" y="2834640"/>
            <a:ext cx="1828800" cy="96012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Recommendations</a:t>
            </a:r>
          </a:p>
          <a:p>
            <a:pPr algn="ctr"/>
            <a:r>
              <a:rPr sz="1050">
                <a:solidFill>
                  <a:srgbClr val="222222"/>
                </a:solidFill>
                <a:latin typeface="Calibri"/>
              </a:rPr>
              <a:t>Diet, exercise, checkups + feedback</a:t>
            </a:r>
          </a:p>
        </p:txBody>
      </p:sp>
      <p:sp>
        <p:nvSpPr>
          <p:cNvPr id="31" name="Step badge 8"/>
          <p:cNvSpPr/>
          <p:nvPr/>
        </p:nvSpPr>
        <p:spPr>
          <a:xfrm>
            <a:off x="411480" y="2724912"/>
            <a:ext cx="274320" cy="2743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cxnSp>
        <p:nvCxnSpPr>
          <p:cNvPr id="32" name="Flow arrow"/>
          <p:cNvCxnSpPr/>
          <p:nvPr/>
        </p:nvCxnSpPr>
        <p:spPr>
          <a:xfrm>
            <a:off x="7726679" y="2148840"/>
            <a:ext cx="0" cy="685800"/>
          </a:xfrm>
          <a:prstGeom prst="line">
            <a:avLst/>
          </a:prstGeom>
          <a:ln w="25400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End"/>
          <p:cNvSpPr/>
          <p:nvPr/>
        </p:nvSpPr>
        <p:spPr>
          <a:xfrm>
            <a:off x="914400" y="4023360"/>
            <a:ext cx="1005840" cy="27432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END</a:t>
            </a:r>
          </a:p>
        </p:txBody>
      </p:sp>
      <p:cxnSp>
        <p:nvCxnSpPr>
          <p:cNvPr id="34" name="Flow arrow"/>
          <p:cNvCxnSpPr/>
          <p:nvPr/>
        </p:nvCxnSpPr>
        <p:spPr>
          <a:xfrm>
            <a:off x="1417320" y="3794760"/>
            <a:ext cx="0" cy="228600"/>
          </a:xfrm>
          <a:prstGeom prst="line">
            <a:avLst/>
          </a:prstGeom>
          <a:ln w="25400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eedback note"/>
          <p:cNvSpPr txBox="1"/>
          <p:nvPr/>
        </p:nvSpPr>
        <p:spPr>
          <a:xfrm>
            <a:off x="2651760" y="4005072"/>
            <a:ext cx="594360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1">
                <a:solidFill>
                  <a:srgbClr val="1F3A6E"/>
                </a:solidFill>
                <a:latin typeface="Calibri"/>
              </a:rPr>
              <a:t>User feedback updates the profile for the next round of recommendations.</a:t>
            </a: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8993D-804C-C2C1-8C3F-84184D9E1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LITERATURE SURVEY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8DDD4-641D-D4E9-4CC8-E9EE6C0C8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058" y="1152525"/>
            <a:ext cx="7463884" cy="3416350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FE5BDC-7711-C6CB-B470-0DC42525E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267571"/>
              </p:ext>
            </p:extLst>
          </p:nvPr>
        </p:nvGraphicFramePr>
        <p:xfrm>
          <a:off x="840058" y="1152525"/>
          <a:ext cx="7471316" cy="3416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7829">
                  <a:extLst>
                    <a:ext uri="{9D8B030D-6E8A-4147-A177-3AD203B41FA5}">
                      <a16:colId xmlns:a16="http://schemas.microsoft.com/office/drawing/2014/main" val="977878048"/>
                    </a:ext>
                  </a:extLst>
                </a:gridCol>
                <a:gridCol w="1867829">
                  <a:extLst>
                    <a:ext uri="{9D8B030D-6E8A-4147-A177-3AD203B41FA5}">
                      <a16:colId xmlns:a16="http://schemas.microsoft.com/office/drawing/2014/main" val="48623343"/>
                    </a:ext>
                  </a:extLst>
                </a:gridCol>
                <a:gridCol w="1867829">
                  <a:extLst>
                    <a:ext uri="{9D8B030D-6E8A-4147-A177-3AD203B41FA5}">
                      <a16:colId xmlns:a16="http://schemas.microsoft.com/office/drawing/2014/main" val="2183855289"/>
                    </a:ext>
                  </a:extLst>
                </a:gridCol>
                <a:gridCol w="1867829">
                  <a:extLst>
                    <a:ext uri="{9D8B030D-6E8A-4147-A177-3AD203B41FA5}">
                      <a16:colId xmlns:a16="http://schemas.microsoft.com/office/drawing/2014/main" val="3631226650"/>
                    </a:ext>
                  </a:extLst>
                </a:gridCol>
              </a:tblGrid>
              <a:tr h="183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S.No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Year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Research Paper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Technique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1973007638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1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2023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Advancing Medical Recommendations With Federated Learning on Decentralized Data (Kumari et al.)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Federated Learning + Differential Privacy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365142954"/>
                  </a:ext>
                </a:extLst>
              </a:tr>
              <a:tr h="697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2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2023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Federated Health Recommender System (Pinon et al.)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Federated Learning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3610056284"/>
                  </a:ext>
                </a:extLst>
              </a:tr>
              <a:tr h="697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3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2023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Exercise and Diet Recommendation System using Machine Learning Techniques (Jain)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SVD / ALS Matrix Factorization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244159166"/>
                  </a:ext>
                </a:extLst>
              </a:tr>
              <a:tr h="697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4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2024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Recommender System for E-Health (Aljabr &amp; Kumar)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Decision Tree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875069109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5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2024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Personalized Medicine Recommendation System Using Machine Learning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Decision Tree, Random Forest, K-Means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2640337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456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0CE35-8ABC-50A7-CF50-B23ED2947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LITERATURE SURVEY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0CE33-F13D-5A87-45D2-274D75277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060" y="1152525"/>
            <a:ext cx="7471316" cy="3416350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C86FCA-C231-E253-417C-C721B0A22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924630"/>
              </p:ext>
            </p:extLst>
          </p:nvPr>
        </p:nvGraphicFramePr>
        <p:xfrm>
          <a:off x="832624" y="1152525"/>
          <a:ext cx="7471316" cy="34162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7829">
                  <a:extLst>
                    <a:ext uri="{9D8B030D-6E8A-4147-A177-3AD203B41FA5}">
                      <a16:colId xmlns:a16="http://schemas.microsoft.com/office/drawing/2014/main" val="3777241770"/>
                    </a:ext>
                  </a:extLst>
                </a:gridCol>
                <a:gridCol w="1867829">
                  <a:extLst>
                    <a:ext uri="{9D8B030D-6E8A-4147-A177-3AD203B41FA5}">
                      <a16:colId xmlns:a16="http://schemas.microsoft.com/office/drawing/2014/main" val="1380519670"/>
                    </a:ext>
                  </a:extLst>
                </a:gridCol>
                <a:gridCol w="1867829">
                  <a:extLst>
                    <a:ext uri="{9D8B030D-6E8A-4147-A177-3AD203B41FA5}">
                      <a16:colId xmlns:a16="http://schemas.microsoft.com/office/drawing/2014/main" val="3933233573"/>
                    </a:ext>
                  </a:extLst>
                </a:gridCol>
                <a:gridCol w="1867829">
                  <a:extLst>
                    <a:ext uri="{9D8B030D-6E8A-4147-A177-3AD203B41FA5}">
                      <a16:colId xmlns:a16="http://schemas.microsoft.com/office/drawing/2014/main" val="1835538573"/>
                    </a:ext>
                  </a:extLst>
                </a:gridCol>
              </a:tblGrid>
              <a:tr h="198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S.No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Year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Research Paper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Technique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700604210"/>
                  </a:ext>
                </a:extLst>
              </a:tr>
              <a:tr h="615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6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2024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Enhancing Patient Care: Supervised ML in Personalized Nutrition Recommendation Systems (Gashi et al.)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Random Forest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520502335"/>
                  </a:ext>
                </a:extLst>
              </a:tr>
              <a:tr h="754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7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2024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Learning Personalized Prompts for Healthcare Guidance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LLM Prompt Learning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2083793231"/>
                  </a:ext>
                </a:extLst>
              </a:tr>
              <a:tr h="476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8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2025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On-device Diagnostic Recommendation with Heterogeneous Federated BlockNets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Federated Deep Learning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3836290077"/>
                  </a:ext>
                </a:extLst>
              </a:tr>
              <a:tr h="754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2025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Personalized Nutrition Recommendation System Based on AI and Federated Learning (Zhou et al.)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Federated Learning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484059398"/>
                  </a:ext>
                </a:extLst>
              </a:tr>
              <a:tr h="615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10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2025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Web Driven Health Insights: An AI-Powered Recommendation System for Optimized Patient Care</a:t>
                      </a:r>
                    </a:p>
                  </a:txBody>
                  <a:tcPr marL="59587" marR="59587" marT="29793" marB="297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RBM + CNN</a:t>
                      </a:r>
                    </a:p>
                  </a:txBody>
                  <a:tcPr marL="59587" marR="59587" marT="29793" marB="29793" anchor="ctr"/>
                </a:tc>
                <a:extLst>
                  <a:ext uri="{0D108BD9-81ED-4DB2-BD59-A6C34878D82A}">
                    <a16:rowId xmlns:a16="http://schemas.microsoft.com/office/drawing/2014/main" val="39780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5815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5B44A-0A1E-56CF-904B-1E6F22BF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800"/>
            <a:ext cx="8520600" cy="76757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LITERATURE SURVEY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39760-A934-4B7E-1511-D72A76B05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4136" y="1152525"/>
            <a:ext cx="7211125" cy="3453105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3D311B-DAFA-9835-0AFF-4EA5B5B062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233217"/>
              </p:ext>
            </p:extLst>
          </p:nvPr>
        </p:nvGraphicFramePr>
        <p:xfrm>
          <a:off x="944137" y="1152525"/>
          <a:ext cx="7211124" cy="34162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2781">
                  <a:extLst>
                    <a:ext uri="{9D8B030D-6E8A-4147-A177-3AD203B41FA5}">
                      <a16:colId xmlns:a16="http://schemas.microsoft.com/office/drawing/2014/main" val="407569760"/>
                    </a:ext>
                  </a:extLst>
                </a:gridCol>
                <a:gridCol w="1802781">
                  <a:extLst>
                    <a:ext uri="{9D8B030D-6E8A-4147-A177-3AD203B41FA5}">
                      <a16:colId xmlns:a16="http://schemas.microsoft.com/office/drawing/2014/main" val="16515156"/>
                    </a:ext>
                  </a:extLst>
                </a:gridCol>
                <a:gridCol w="1802781">
                  <a:extLst>
                    <a:ext uri="{9D8B030D-6E8A-4147-A177-3AD203B41FA5}">
                      <a16:colId xmlns:a16="http://schemas.microsoft.com/office/drawing/2014/main" val="2515225949"/>
                    </a:ext>
                  </a:extLst>
                </a:gridCol>
                <a:gridCol w="1802781">
                  <a:extLst>
                    <a:ext uri="{9D8B030D-6E8A-4147-A177-3AD203B41FA5}">
                      <a16:colId xmlns:a16="http://schemas.microsoft.com/office/drawing/2014/main" val="2883122531"/>
                    </a:ext>
                  </a:extLst>
                </a:gridCol>
              </a:tblGrid>
              <a:tr h="183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S.No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Year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Research Paper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Technique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3608561025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11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2025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Adaptive Optimization of Personalized Exercise Regimens (Informatica 49)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Deep RL (PPO)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1007752368"/>
                  </a:ext>
                </a:extLst>
              </a:tr>
              <a:tr h="697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12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2025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Development of a Personal Health Recommendation System Based on Data and ML (Sampetoding et al.)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SVC, KNN, Deep Learning (review)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1404482138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13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2025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Evaluating and Implementing ML Models for Personalised Mobile Health App Recommendations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Random Forest to BERT + Cosine Similarity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744870317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14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2025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Using Computational and ML Methods for a Personalized Fitness Web Application (Hlinystyi &amp; Kovalenko)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ML + BMI / BMR rules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783831665"/>
                  </a:ext>
                </a:extLst>
              </a:tr>
              <a:tr h="826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15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2026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FedMed: Federated Learning-Based Personalized and Safe Medication Recommendation</a:t>
                      </a:r>
                    </a:p>
                  </a:txBody>
                  <a:tcPr marL="55102" marR="55102" marT="27551" marB="275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Federated Learning + Graph Aggregation</a:t>
                      </a:r>
                    </a:p>
                  </a:txBody>
                  <a:tcPr marL="55102" marR="55102" marT="27551" marB="27551" anchor="ctr"/>
                </a:tc>
                <a:extLst>
                  <a:ext uri="{0D108BD9-81ED-4DB2-BD59-A6C34878D82A}">
                    <a16:rowId xmlns:a16="http://schemas.microsoft.com/office/drawing/2014/main" val="3220073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606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9673C-C80C-4334-99F0-53A471883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RESEARCH METHODOLOGY</a:t>
            </a:r>
          </a:p>
        </p:txBody>
      </p:sp>
      <p:sp>
        <p:nvSpPr>
          <p:cNvPr id="3" name="Algorithm panel"/>
          <p:cNvSpPr/>
          <p:nvPr/>
        </p:nvSpPr>
        <p:spPr>
          <a:xfrm>
            <a:off x="411480" y="1051560"/>
            <a:ext cx="5166360" cy="3611880"/>
          </a:xfrm>
          <a:prstGeom prst="roundRect">
            <a:avLst>
              <a:gd name="adj" fmla="val 4000"/>
            </a:avLst>
          </a:prstGeom>
          <a:solidFill>
            <a:srgbClr val="E8EEFB"/>
          </a:solidFill>
          <a:ln w="19050">
            <a:solidFill>
              <a:srgbClr val="1F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ationale panel"/>
          <p:cNvSpPr/>
          <p:nvPr/>
        </p:nvSpPr>
        <p:spPr>
          <a:xfrm>
            <a:off x="5760720" y="1051560"/>
            <a:ext cx="2971800" cy="361188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lgorithm steps"/>
          <p:cNvSpPr txBox="1"/>
          <p:nvPr/>
        </p:nvSpPr>
        <p:spPr>
          <a:xfrm>
            <a:off x="502920" y="1097280"/>
            <a:ext cx="4983480" cy="2743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F3A6E"/>
                </a:solidFill>
                <a:latin typeface="Calibri"/>
              </a:rPr>
              <a:t>Proposed Algorithm: Hybrid Random Forest + Content-Based Filtering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Calibri"/>
              </a:rPr>
              <a:t>1.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Input the user profile: age, BMI, vitals, lifestyle, conditions, goals.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Calibri"/>
              </a:rPr>
              <a:t>2.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Clean data, encode categories, and normalize numeric features.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Calibri"/>
              </a:rPr>
              <a:t>3.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Random Forest builds many decision trees; majority vote gives the risk category (low / moderate / high).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Calibri"/>
              </a:rPr>
              <a:t>4.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Build feature vectors for the user and for each health item (diet, exercise, checkup).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Calibri"/>
              </a:rPr>
              <a:t>5.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Score each item with cosine similarity, filtered by the predicted risk category.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Calibri"/>
              </a:rPr>
              <a:t>6.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Rank the scores and return the Top-N recommendations with reasons.</a:t>
            </a:r>
          </a:p>
        </p:txBody>
      </p:sp>
      <p:sp>
        <p:nvSpPr>
          <p:cNvPr id="6" name="Formula"/>
          <p:cNvSpPr/>
          <p:nvPr/>
        </p:nvSpPr>
        <p:spPr>
          <a:xfrm>
            <a:off x="640080" y="4069080"/>
            <a:ext cx="4709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3A6E"/>
                </a:solidFill>
                <a:latin typeface="Calibri"/>
              </a:rPr>
              <a:t>Similarity(U, I) = (U · I) / (‖U‖ × ‖I‖)</a:t>
            </a:r>
          </a:p>
        </p:txBody>
      </p:sp>
      <p:sp>
        <p:nvSpPr>
          <p:cNvPr id="7" name="Rationale"/>
          <p:cNvSpPr txBox="1"/>
          <p:nvPr/>
        </p:nvSpPr>
        <p:spPr>
          <a:xfrm>
            <a:off x="5852160" y="1097280"/>
            <a:ext cx="2788920" cy="2926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C00000"/>
                </a:solidFill>
                <a:latin typeface="Calibri"/>
              </a:rPr>
              <a:t>Why this algorithm?</a:t>
            </a:r>
          </a:p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</a:rPr>
              <a:t>Handles mixed numeric and categorical health data.</a:t>
            </a:r>
          </a:p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</a:rPr>
              <a:t>Random Forest resists overfitting and ranks feature importance.</a:t>
            </a:r>
          </a:p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</a:rPr>
              <a:t>Content-based part needs little user history (low cold start).</a:t>
            </a:r>
          </a:p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</a:rPr>
              <a:t>Recommendations are explainable to users and clinicians.</a:t>
            </a:r>
          </a:p>
          <a:p>
            <a:pPr marL="171450" indent="-17145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</a:rPr>
              <a:t>Lightweight enough for a standard web server.</a:t>
            </a:r>
          </a:p>
        </p:txBody>
      </p:sp>
      <p:sp>
        <p:nvSpPr>
          <p:cNvPr id="8" name="Safety note"/>
          <p:cNvSpPr txBox="1"/>
          <p:nvPr/>
        </p:nvSpPr>
        <p:spPr>
          <a:xfrm>
            <a:off x="5852160" y="4041648"/>
            <a:ext cx="278892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C00000"/>
                </a:solidFill>
                <a:latin typeface="Calibri"/>
              </a:rPr>
              <a:t>Decision support only; not a medical diagnosis.</a:t>
            </a:r>
          </a:p>
        </p:txBody>
      </p:sp>
    </p:spTree>
    <p:extLst>
      <p:ext uri="{BB962C8B-B14F-4D97-AF65-F5344CB8AC3E}">
        <p14:creationId xmlns:p14="http://schemas.microsoft.com/office/powerpoint/2010/main" val="3021374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FDE2D-219F-6088-8688-5E3FE31D6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COMPARE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618DC-8B39-198C-81DD-61DF1BF56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312" y="1152474"/>
            <a:ext cx="8415988" cy="3724327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88BA2D4-E9CF-E98C-1A58-F1CD7E0A4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030079"/>
              </p:ext>
            </p:extLst>
          </p:nvPr>
        </p:nvGraphicFramePr>
        <p:xfrm>
          <a:off x="416312" y="1150216"/>
          <a:ext cx="8415988" cy="37265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997">
                  <a:extLst>
                    <a:ext uri="{9D8B030D-6E8A-4147-A177-3AD203B41FA5}">
                      <a16:colId xmlns:a16="http://schemas.microsoft.com/office/drawing/2014/main" val="1503142260"/>
                    </a:ext>
                  </a:extLst>
                </a:gridCol>
                <a:gridCol w="2103997">
                  <a:extLst>
                    <a:ext uri="{9D8B030D-6E8A-4147-A177-3AD203B41FA5}">
                      <a16:colId xmlns:a16="http://schemas.microsoft.com/office/drawing/2014/main" val="2444899382"/>
                    </a:ext>
                  </a:extLst>
                </a:gridCol>
                <a:gridCol w="2103997">
                  <a:extLst>
                    <a:ext uri="{9D8B030D-6E8A-4147-A177-3AD203B41FA5}">
                      <a16:colId xmlns:a16="http://schemas.microsoft.com/office/drawing/2014/main" val="2976660887"/>
                    </a:ext>
                  </a:extLst>
                </a:gridCol>
                <a:gridCol w="2103997">
                  <a:extLst>
                    <a:ext uri="{9D8B030D-6E8A-4147-A177-3AD203B41FA5}">
                      <a16:colId xmlns:a16="http://schemas.microsoft.com/office/drawing/2014/main" val="236596936"/>
                    </a:ext>
                  </a:extLst>
                </a:gridCol>
              </a:tblGrid>
              <a:tr h="483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Criteria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Content-Based Filtering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Collaborative Filtering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Hybrid (RF + CBF)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2581090906"/>
                  </a:ext>
                </a:extLst>
              </a:tr>
              <a:tr h="483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1. Input Data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Health profile and item features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User-item interaction history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Both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568778576"/>
                  </a:ext>
                </a:extLst>
              </a:tr>
              <a:tr h="483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2. Technique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Feature vectors + Cosine Similarity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KNN / Matrix Factorization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RF risk prediction + CBF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426057902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3. Personalization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Very High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4172553527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4. Data Requirement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Low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Medium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652293192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5. Implementation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Easy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Moderate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Complex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396940917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6. Accuracy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Good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Good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Very Good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1855344795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7. Cold Start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Low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Low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343339035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8. Explainability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Medium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284038324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9. Privacy Risk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Low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Low–Medium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119787469"/>
                  </a:ext>
                </a:extLst>
              </a:tr>
              <a:tr h="284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10. Project Suitability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Good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Moderate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Excellent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803616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850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EE3E7-F443-1E65-C800-ECFB95B5B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IMPLEMENTION IDEA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285E7-D29D-190C-A3DF-601ED9E2F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657418"/>
          </a:xfrm>
        </p:spPr>
        <p:txBody>
          <a:bodyPr>
            <a:normAutofit fontScale="62500" lnSpcReduction="20000"/>
          </a:bodyPr>
          <a:lstStyle/>
          <a:p>
            <a:pPr lvl="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Collect user data: age, BMI, vitals, lifestyle habits, conditions, and goals.</a:t>
            </a:r>
          </a:p>
          <a:p>
            <a:pPr lvl="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Collect health item data: diet plans, exercises, and checkups with target risk levels.</a:t>
            </a:r>
          </a:p>
          <a:p>
            <a:pPr lvl="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Preprocess: remove missing and duplicate records, encode categories, scale values.</a:t>
            </a:r>
          </a:p>
          <a:p>
            <a:pPr lvl="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Train a Random Forest classifier to predict the user's health-risk category.</a:t>
            </a:r>
          </a:p>
          <a:p>
            <a:pPr lvl="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Convert profiles and health items into feature vectors; compute Cosine Similarity.</a:t>
            </a:r>
          </a:p>
          <a:p>
            <a:pPr lvl="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Rank items by similarity within the predicted risk category and select the Top-N.</a:t>
            </a:r>
          </a:p>
          <a:p>
            <a:pPr lvl="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Show Top-N recommendations on a simple web interface and collect user feedback.</a:t>
            </a:r>
          </a:p>
          <a:p>
            <a:pPr marL="114300" indent="0">
              <a:lnSpc>
                <a:spcPct val="170000"/>
              </a:lnSpc>
              <a:buNone/>
            </a:pPr>
            <a:r>
              <a:rPr lang="en-IN" sz="2000" b="1" dirty="0">
                <a:solidFill>
                  <a:schemeClr val="tx1"/>
                </a:solidFill>
              </a:rPr>
              <a:t>Flow:</a:t>
            </a:r>
            <a:br>
              <a:rPr lang="en-IN" sz="2000" dirty="0">
                <a:solidFill>
                  <a:srgbClr val="C00000"/>
                </a:solidFill>
              </a:rPr>
            </a:br>
            <a:r>
              <a:rPr lang="en-IN" sz="2000" dirty="0">
                <a:solidFill>
                  <a:srgbClr val="C00000"/>
                </a:solidFill>
              </a:rPr>
              <a:t>User Data → Preprocessing → Risk Prediction → Cosine Similarity → Top-N Advice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1679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459FA-9D9D-32BF-193A-36E1CD3F7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19E6E-C6DF-6EA7-170A-0F1B250BD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</a:rPr>
              <a:t>User Health Profile Module</a:t>
            </a:r>
          </a:p>
          <a:p>
            <a:pPr marL="342900" lvl="0" indent="0">
              <a:buNone/>
            </a:pPr>
            <a:r>
              <a:rPr lang="en-IN" sz="1800" dirty="0">
                <a:solidFill>
                  <a:srgbClr val="000000"/>
                </a:solidFill>
              </a:rPr>
              <a:t>Collects age, BMI, vitals, lifestyle, conditions, and goals.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</a:rPr>
              <a:t>Health Dataset Module</a:t>
            </a:r>
          </a:p>
          <a:p>
            <a:pPr marL="342900" lvl="0" indent="0">
              <a:buNone/>
            </a:pPr>
            <a:r>
              <a:rPr lang="en-IN" sz="1800" dirty="0">
                <a:solidFill>
                  <a:srgbClr val="000000"/>
                </a:solidFill>
              </a:rPr>
              <a:t>Stores health records, diet, exercise, and care guidelines.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</a:rPr>
              <a:t>Data Preprocessing Module</a:t>
            </a:r>
          </a:p>
          <a:p>
            <a:pPr marL="342900" lvl="0" indent="0">
              <a:buNone/>
            </a:pPr>
            <a:r>
              <a:rPr lang="en-IN" sz="1800" dirty="0">
                <a:solidFill>
                  <a:srgbClr val="000000"/>
                </a:solidFill>
              </a:rPr>
              <a:t>Cleans, encodes, and normalizes the data.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</a:rPr>
              <a:t>Prediction &amp; Recommendation Module</a:t>
            </a:r>
          </a:p>
          <a:p>
            <a:pPr marL="342900" lvl="0" indent="0">
              <a:buNone/>
            </a:pPr>
            <a:r>
              <a:rPr lang="en-IN" sz="1800" dirty="0">
                <a:solidFill>
                  <a:srgbClr val="000000"/>
                </a:solidFill>
              </a:rPr>
              <a:t>Predicts risk with Random Forest; ranks advice by similarity.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</a:rPr>
              <a:t>Result &amp; Feedback Module</a:t>
            </a:r>
          </a:p>
          <a:p>
            <a:pPr marL="342900" lvl="0" indent="0">
              <a:buNone/>
            </a:pPr>
            <a:r>
              <a:rPr lang="en-IN" sz="1800" dirty="0">
                <a:solidFill>
                  <a:srgbClr val="000000"/>
                </a:solidFill>
              </a:rPr>
              <a:t>Shows Top-N personalized advice and collects feedback.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6" name="Google Shape;86;p17">
            <a:extLst>
              <a:ext uri="{FF2B5EF4-FFF2-40B4-BE49-F238E27FC236}">
                <a16:creationId xmlns:a16="http://schemas.microsoft.com/office/drawing/2014/main" id="{210B65D5-8001-16A6-27AB-CDC50444E4C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85;p17">
            <a:extLst>
              <a:ext uri="{FF2B5EF4-FFF2-40B4-BE49-F238E27FC236}">
                <a16:creationId xmlns:a16="http://schemas.microsoft.com/office/drawing/2014/main" id="{93684B25-4B5C-339D-BA63-7DA721ACBF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762558" cy="7623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2907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29AB7-FEA0-A8B3-E130-B9F0DB74C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3D8E6-1EF0-736C-B1A7-A6B48E70D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The system gives personalized, data-driven healthcare recommendations to each user.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Machine Learning enables accurate risk prediction and tailored advice.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Random Forest with Cosine Similarity is an effective, explainable hybrid approach.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Future work: wearable data, federated learning for privacy, and clinician validation.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" name="Google Shape;85;p17">
            <a:extLst>
              <a:ext uri="{FF2B5EF4-FFF2-40B4-BE49-F238E27FC236}">
                <a16:creationId xmlns:a16="http://schemas.microsoft.com/office/drawing/2014/main" id="{6C037165-71CB-1F8C-8F13-E756758239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401" y="152400"/>
            <a:ext cx="762558" cy="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6;p17">
            <a:extLst>
              <a:ext uri="{FF2B5EF4-FFF2-40B4-BE49-F238E27FC236}">
                <a16:creationId xmlns:a16="http://schemas.microsoft.com/office/drawing/2014/main" id="{B74BA91D-C071-165F-13F2-73BBFDDCB8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9030" y="6"/>
            <a:ext cx="824970" cy="7955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5803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/>
        </p:nvSpPr>
        <p:spPr>
          <a:xfrm>
            <a:off x="38100" y="1835250"/>
            <a:ext cx="9067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>
                <a:solidFill>
                  <a:schemeClr val="dk1"/>
                </a:solidFill>
              </a:rPr>
              <a:t>THANK YOU</a:t>
            </a:r>
            <a:endParaRPr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1101</Words>
  <Application>Microsoft Office PowerPoint</Application>
  <PresentationFormat>On-screen Show (16:9)</PresentationFormat>
  <Paragraphs>224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Simple Light</vt:lpstr>
      <vt:lpstr> AGI1242- MACHINE LEARNING TECHNIQUES </vt:lpstr>
      <vt:lpstr>PowerPoint Presentation</vt:lpstr>
      <vt:lpstr>PowerPoint Presentation</vt:lpstr>
      <vt:lpstr>PowerPoint Presentation</vt:lpstr>
      <vt:lpstr>PowerPoint Presentation</vt:lpstr>
      <vt:lpstr>LITERATURE SURVEY</vt:lpstr>
      <vt:lpstr>LITERATURE SURVEY</vt:lpstr>
      <vt:lpstr>LITERATURE SURVEY</vt:lpstr>
      <vt:lpstr>RESEARCH METHODOLOGY</vt:lpstr>
      <vt:lpstr>COMPARE ALGORITHM</vt:lpstr>
      <vt:lpstr>IMPLEMENTION IDEA</vt:lpstr>
      <vt:lpstr>MODULES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Mariappan</dc:creator>
  <cp:lastModifiedBy>PAVITHRA S</cp:lastModifiedBy>
  <cp:revision>1</cp:revision>
  <dcterms:modified xsi:type="dcterms:W3CDTF">2026-10-05T03:34:07Z</dcterms:modified>
</cp:coreProperties>
</file>